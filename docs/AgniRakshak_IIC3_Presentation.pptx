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97316"/>
                </a:solidFill>
              </a:defRPr>
            </a:pPr>
            <a:r>
              <a:t>Slide 1 — IDEA TITLE &amp; TEAM DETAILS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AgniRakshak: Distributed Edge-AI Wildfire Early Detection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Theme / Track: </a:t>
            </a:r>
            <a:r>
              <a:rPr b="0" sz="1500">
                <a:solidFill>
                  <a:srgbClr val="F8FAFC"/>
                </a:solidFill>
              </a:rPr>
              <a:t>Open Innovation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Idea Title: </a:t>
            </a:r>
            <a:r>
              <a:rPr b="0" sz="1500">
                <a:solidFill>
                  <a:srgbClr val="F8FAFC"/>
                </a:solidFill>
              </a:rPr>
              <a:t>AgniRakshak (अग्निरक्षक)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Tagline: </a:t>
            </a:r>
            <a:r>
              <a:rPr b="0" sz="1500">
                <a:solidFill>
                  <a:srgbClr val="F8FAFC"/>
                </a:solidFill>
              </a:rPr>
              <a:t>Detect Early. Alert Faster. Prevent Wildfires.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Team Name: </a:t>
            </a:r>
            <a:r>
              <a:rPr b="0" sz="1500">
                <a:solidFill>
                  <a:srgbClr val="F8FAFC"/>
                </a:solidFill>
              </a:rPr>
              <a:t>Hell Fire Club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Institution: </a:t>
            </a:r>
            <a:r>
              <a:rPr b="0" sz="1500">
                <a:solidFill>
                  <a:srgbClr val="F8FAFC"/>
                </a:solidFill>
              </a:rPr>
              <a:t>Manipal University Jaipur (IIC 3.0)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Core Value Prop: </a:t>
            </a:r>
            <a:r>
              <a:rPr b="0" sz="1500">
                <a:solidFill>
                  <a:srgbClr val="F8FAFC"/>
                </a:solidFill>
              </a:rPr>
              <a:t>Sub-minute wildfire ignition detection combining solar-powered IoT micro-climate sensor fusion with temporal derivative AI classification (dT/dt, dCO/dt).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97316"/>
                </a:solidFill>
              </a:defRPr>
            </a:pPr>
            <a:r>
              <a:t>Slide 2 — PROBLEM STATEMENT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Critical Latency &amp; Failure of Existing Monitoring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Satellite &amp; Camera Latency: </a:t>
            </a:r>
            <a:r>
              <a:rPr b="0" sz="1500">
                <a:solidFill>
                  <a:srgbClr val="F8FAFC"/>
                </a:solidFill>
              </a:rPr>
              <a:t>Satellites have 1-3 hour pass delays; by detection time, small ignitions escalate into catastrophic mega-fires.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Remote Forest Blindspots: </a:t>
            </a:r>
            <a:r>
              <a:rPr b="0" sz="1500">
                <a:solidFill>
                  <a:srgbClr val="F8FAFC"/>
                </a:solidFill>
              </a:rPr>
              <a:t>Deep wildlands lack power grid infrastructure and continuous physical human surveillance.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Single-Threshold Failure: </a:t>
            </a:r>
            <a:r>
              <a:rPr b="0" sz="1500">
                <a:solidFill>
                  <a:srgbClr val="F8FAFC"/>
                </a:solidFill>
              </a:rPr>
              <a:t>Conventional static temperature alarms produce false triggers from hot ambient weather or fail in outdoor wind.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Severe Consequences: </a:t>
            </a:r>
            <a:r>
              <a:rPr b="0" sz="1500">
                <a:solidFill>
                  <a:srgbClr val="F8FAFC"/>
                </a:solidFill>
              </a:rPr>
              <a:t>Massive ecological destruction, megatons of unmitigated CO2 emissions, and loss of life &amp; property.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97316"/>
                </a:solidFill>
              </a:defRPr>
            </a:pPr>
            <a:r>
              <a:t>Slide 3 — PROPOSED SOLUTION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Multi-Sensor Edge-AI Sensor Fusion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Distributed Sensor Nodes: </a:t>
            </a:r>
            <a:r>
              <a:rPr b="0" sz="1500">
                <a:solidFill>
                  <a:srgbClr val="F8FAFC"/>
                </a:solidFill>
              </a:rPr>
              <a:t>Deploy autonomous micro-climate nodes capturing Temp, Humidity, CO, Smoke, and Barometric Pressure.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Temporal Derivative Engine: </a:t>
            </a:r>
            <a:r>
              <a:rPr b="0" sz="1500">
                <a:solidFill>
                  <a:srgbClr val="F8FAFC"/>
                </a:solidFill>
              </a:rPr>
              <a:t>Computes rate-of-change metrics (dT/dt, dCO/dt) to detect chemical ignition before visible smoke/flames.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Hybrid AI Classifier: </a:t>
            </a:r>
            <a:r>
              <a:rPr b="0" sz="1500">
                <a:solidFill>
                  <a:srgbClr val="F8FAFC"/>
                </a:solidFill>
              </a:rPr>
              <a:t>Scikit-Learn Random Forest model + deterministic heuristic safety rules classify risk: NORMAL, WARNING, HIGH RISK.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GPS &amp; Sub-Minute Alerts: </a:t>
            </a:r>
            <a:r>
              <a:rPr b="0" sz="1500">
                <a:solidFill>
                  <a:srgbClr val="F8FAFC"/>
                </a:solidFill>
              </a:rPr>
              <a:t>Instant geolocation tagging via LoRa / Wi-Fi mesh dispatches responders within 60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97316"/>
                </a:solidFill>
              </a:defRPr>
            </a:pPr>
            <a:r>
              <a:t>Slide 4 — INNOVATION &amp; UNIQUENESS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Why AgniRakshak Outperforms Traditional Fire Alarms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Feature Fusion vs Static Thresholds: </a:t>
            </a:r>
            <a:r>
              <a:rPr b="0" sz="1500">
                <a:solidFill>
                  <a:srgbClr val="F8FAFC"/>
                </a:solidFill>
              </a:rPr>
              <a:t>Combines multi-parameter temporal trends instead of single threshold triggers (e.g. Temp &gt; X).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Sub-Minute Detection Speed: </a:t>
            </a:r>
            <a:r>
              <a:rPr b="0" sz="1500">
                <a:solidFill>
                  <a:srgbClr val="F8FAFC"/>
                </a:solidFill>
              </a:rPr>
              <a:t>Local edge detection triggers instant alarm buzzer and cloud dashboard alerts.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Physics-Based Calibration: </a:t>
            </a:r>
            <a:r>
              <a:rPr b="0" sz="1500">
                <a:solidFill>
                  <a:srgbClr val="F8FAFC"/>
                </a:solidFill>
              </a:rPr>
              <a:t>Polynomial bivariate temperature &amp; humidity correction K(T, H) eliminates sensor drift false alarms.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Ultra-Low Cost &amp; Off-Grid: </a:t>
            </a:r>
            <a:r>
              <a:rPr b="0" sz="1500">
                <a:solidFill>
                  <a:srgbClr val="F8FAFC"/>
                </a:solidFill>
              </a:rPr>
              <a:t>Complete node BOM &lt; $35 with solar MPPT harvesting and 19-day dark autonomy.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97316"/>
                </a:solidFill>
              </a:defRPr>
            </a:pPr>
            <a:r>
              <a:t>Slide 5 — TECHNICAL APPROACH &amp; ARCHITECTURE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Hardware, Firmware, and Cloud AI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Hardware Layer: </a:t>
            </a:r>
            <a:r>
              <a:rPr b="0" sz="1500">
                <a:solidFill>
                  <a:srgbClr val="F8FAFC"/>
                </a:solidFill>
              </a:rPr>
              <a:t>ESP32 DevKit MCU + Bosch BME280 + MQ-7 CO (5V/1.4V cycle) + MQ-2 Smoke + NEO-6M GPS.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Firmware Architecture: </a:t>
            </a:r>
            <a:r>
              <a:rPr b="0" sz="1500">
                <a:solidFill>
                  <a:srgbClr val="F8FAFC"/>
                </a:solidFill>
              </a:rPr>
              <a:t>FreeRTOS dual-core task scheduling (Core 0: Sensor conditioning; Core 1: OLED, Alerts, Wi-Fi TX).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AI &amp; Software Stack: </a:t>
            </a:r>
            <a:r>
              <a:rPr b="0" sz="1500">
                <a:solidFill>
                  <a:srgbClr val="F8FAFC"/>
                </a:solidFill>
              </a:rPr>
              <a:t>Python Streamlit Web Dashboard + Scikit-Learn Random Forest Model + Folium Geospatial Map.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Power Management: </a:t>
            </a:r>
            <a:r>
              <a:rPr b="0" sz="1500">
                <a:solidFill>
                  <a:srgbClr val="F8FAFC"/>
                </a:solidFill>
              </a:rPr>
              <a:t>5W Monocrystalline Solar + CN3791 MPPT + 6000mAh LiFePO4 battery (&lt; 13mA avg draw).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97316"/>
                </a:solidFill>
              </a:defRPr>
            </a:pPr>
            <a:r>
              <a:t>Slide 6 — PROTOTYPE &amp; WORKING DEMONSTRATION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Full-Stack Implementation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Interactive Streamlit Dashboard: </a:t>
            </a:r>
            <a:r>
              <a:rPr b="0" sz="1500">
                <a:solidFill>
                  <a:srgbClr val="F8FAFC"/>
                </a:solidFill>
              </a:rPr>
              <a:t>Real-time web monitoring interface featuring live risk gauges, Folium map, and Plotly charts.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Live Scenario Simulator: </a:t>
            </a:r>
            <a:r>
              <a:rPr b="0" sz="1500">
                <a:solidFill>
                  <a:srgbClr val="F8FAFC"/>
                </a:solidFill>
              </a:rPr>
              <a:t>Test controls for 4 scenarios: Normal Ambient, Hot &amp; Dry Weather, Smoldering Fire, Active Wildfire.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ESP32 Firmware Code: </a:t>
            </a:r>
            <a:r>
              <a:rPr b="0" sz="1500">
                <a:solidFill>
                  <a:srgbClr val="F8FAFC"/>
                </a:solidFill>
              </a:rPr>
              <a:t>Production C++/Arduino sketch with FreeRTOS, OLED status display, active buzzer, and JSON HTTP client.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Trained ML Engine: </a:t>
            </a:r>
            <a:r>
              <a:rPr b="0" sz="1500">
                <a:solidFill>
                  <a:srgbClr val="F8FAFC"/>
                </a:solidFill>
              </a:rPr>
              <a:t>Persisted Scikit-Learn Random Forest classifier model artifacts (wildfire_model.pkl).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97316"/>
                </a:solidFill>
              </a:defRPr>
            </a:pPr>
            <a:r>
              <a:t>Slide 7 — FEASIBILITY &amp; VIABILITY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Economic &amp; Power System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Node Cost (&lt; $35): </a:t>
            </a:r>
            <a:r>
              <a:rPr b="0" sz="1500">
                <a:solidFill>
                  <a:srgbClr val="F8FAFC"/>
                </a:solidFill>
              </a:rPr>
              <a:t>ESP32 ($4.50), BME280 ($3.20), MQ-7/MQ-2 ($4.80), GPS &amp; OLED ($6.50), Solar MPPT &amp; Battery ($12.00).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5-Min Periodic Duty Cycle: </a:t>
            </a:r>
            <a:r>
              <a:rPr b="0" sz="1500">
                <a:solidFill>
                  <a:srgbClr val="F8FAFC"/>
                </a:solidFill>
              </a:rPr>
              <a:t>Consumes 12.63 mA average current at 3.3V (0.041 W power consumption).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19-Day Dark Autonomy: </a:t>
            </a:r>
            <a:r>
              <a:rPr b="0" sz="1500">
                <a:solidFill>
                  <a:srgbClr val="F8FAFC"/>
                </a:solidFill>
              </a:rPr>
              <a:t>6000 mAh LiFePO4 battery runs over 19 days without solar replenishment during dense smoke plumes.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IP65 Polycarbonate Enclosure: </a:t>
            </a:r>
            <a:r>
              <a:rPr b="0" sz="1500">
                <a:solidFill>
                  <a:srgbClr val="F8FAFC"/>
                </a:solidFill>
              </a:rPr>
              <a:t>Dual-compartment sealed electronics housing with louvered 45° rain protection sensing chamber.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97316"/>
                </a:solidFill>
              </a:defRPr>
            </a:pPr>
            <a:r>
              <a:t>Slide 8 — IMPACT &amp; FUTURE ROADMAP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Environmental Preservation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Ecological Impact: </a:t>
            </a:r>
            <a:r>
              <a:rPr b="0" sz="1500">
                <a:solidFill>
                  <a:srgbClr val="F8FAFC"/>
                </a:solidFill>
              </a:rPr>
              <a:t>Protects forest biodiversity, wildlife habitats, and reduces unmitigated carbon emissions.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Economic Protection: </a:t>
            </a:r>
            <a:r>
              <a:rPr b="0" sz="1500">
                <a:solidFill>
                  <a:srgbClr val="F8FAFC"/>
                </a:solidFill>
              </a:rPr>
              <a:t>Prevents multi-million dollar timber, agricultural, and community infrastructure losses.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LoRa Mesh Scaling: </a:t>
            </a:r>
            <a:r>
              <a:rPr b="0" sz="1500">
                <a:solidFill>
                  <a:srgbClr val="F8FAFC"/>
                </a:solidFill>
              </a:rPr>
              <a:t>Expand nodes across thousands of forest hectares using sub-GHz LoRa RF mesh networking.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Future Integration: </a:t>
            </a:r>
            <a:r>
              <a:rPr b="0" sz="1500">
                <a:solidFill>
                  <a:srgbClr val="F8FAFC"/>
                </a:solidFill>
              </a:rPr>
              <a:t>Combine ground IoT sensor mesh telemetry with autonomous drone verification and satellite maps.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97316"/>
                </a:solidFill>
              </a:defRPr>
            </a:pPr>
            <a:r>
              <a:t>Slide 9 — CONCLUSION &amp; SUMMARY VISION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Detect Early. Alert Faster. Prevent Wildfires.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Core Vision: </a:t>
            </a:r>
            <a:r>
              <a:rPr b="0" sz="1500">
                <a:solidFill>
                  <a:srgbClr val="F8FAFC"/>
                </a:solidFill>
              </a:rPr>
              <a:t>Deploy a continuous, autonomous network of edge-AI nodes across vulnerable forest ecosystems.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System Workflow: </a:t>
            </a:r>
            <a:r>
              <a:rPr b="0" sz="1500">
                <a:solidFill>
                  <a:srgbClr val="F8FAFC"/>
                </a:solidFill>
              </a:rPr>
              <a:t>MONITOR -&gt; DETECT -&gt; ANALYZE -&gt; ALERT -&gt; ACT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Competitive Advantage: </a:t>
            </a:r>
            <a:r>
              <a:rPr b="0" sz="1500">
                <a:solidFill>
                  <a:srgbClr val="F8FAFC"/>
                </a:solidFill>
              </a:rPr>
              <a:t>Open Innovation track choice preserves Round 1 solution for offline physical presentation at MUJ.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• Final Tagline: </a:t>
            </a:r>
            <a:r>
              <a:rPr b="0" sz="1500">
                <a:solidFill>
                  <a:srgbClr val="F8FAFC"/>
                </a:solidFill>
              </a:rPr>
              <a:t>AI + IoT + Early Sensor Fusion = A Smarter Approach to Wildfire Prevention.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